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ublic Sans" pitchFamily="2" charset="77"/>
      <p:regular r:id="rId9"/>
    </p:embeddedFont>
    <p:embeddedFont>
      <p:font typeface="Public Sans Bold" pitchFamily="2" charset="77"/>
      <p:regular r:id="rId10"/>
    </p:embeddedFont>
    <p:embeddedFont>
      <p:font typeface="Public Sans Medium" pitchFamily="2" charset="77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30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n-management-system-frontend-pi.vercel.app/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09668" y="1247663"/>
            <a:ext cx="10720332" cy="1453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77"/>
              </a:lnSpc>
            </a:pPr>
            <a:r>
              <a:rPr lang="en-US" sz="10164" b="1" spc="-506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4064" y="2752129"/>
            <a:ext cx="9496735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47"/>
              </a:lnSpc>
            </a:pPr>
            <a:r>
              <a:rPr lang="en-US" sz="4289" b="1" spc="-12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Intern Task &amp; Progress Management for Food Systems Collective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1403" y="4701113"/>
            <a:ext cx="3905768" cy="38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8" b="1" spc="-7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For:</a:t>
            </a:r>
            <a:r>
              <a:rPr lang="en-US" sz="2548" spc="-7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FSC Mentors &amp; Interns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40" y="5270037"/>
            <a:ext cx="8549960" cy="411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601" b="1" spc="-7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Problem:</a:t>
            </a:r>
            <a:r>
              <a:rPr lang="en-US" sz="2601" spc="-77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Fragmented tools and manual progress tracking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048" y="5830676"/>
            <a:ext cx="9941301" cy="38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8" b="1" spc="-7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Goal:</a:t>
            </a:r>
            <a:r>
              <a:rPr lang="en-US" sz="2548" spc="-7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One reliable workflow for task assignment and progress review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47700" y="7058025"/>
            <a:ext cx="2190750" cy="1304925"/>
            <a:chOff x="0" y="0"/>
            <a:chExt cx="2921000" cy="1739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21000" cy="1739900"/>
            </a:xfrm>
            <a:custGeom>
              <a:avLst/>
              <a:gdLst/>
              <a:ahLst/>
              <a:cxnLst/>
              <a:rect l="l" t="t" r="r" b="b"/>
              <a:pathLst>
                <a:path w="2921000" h="1739900">
                  <a:moveTo>
                    <a:pt x="228600" y="0"/>
                  </a:moveTo>
                  <a:lnTo>
                    <a:pt x="2692400" y="0"/>
                  </a:lnTo>
                  <a:cubicBezTo>
                    <a:pt x="2818652" y="0"/>
                    <a:pt x="2921000" y="102348"/>
                    <a:pt x="2921000" y="228600"/>
                  </a:cubicBezTo>
                  <a:lnTo>
                    <a:pt x="2921000" y="1511300"/>
                  </a:lnTo>
                  <a:cubicBezTo>
                    <a:pt x="2921000" y="1637552"/>
                    <a:pt x="2818652" y="1739900"/>
                    <a:pt x="2692400" y="1739900"/>
                  </a:cubicBezTo>
                  <a:lnTo>
                    <a:pt x="228600" y="1739900"/>
                  </a:lnTo>
                  <a:cubicBezTo>
                    <a:pt x="102348" y="1739900"/>
                    <a:pt x="0" y="1637552"/>
                    <a:pt x="0" y="1511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AF3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921000" cy="177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59819" y="7619809"/>
            <a:ext cx="1340823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3"/>
              </a:lnSpc>
            </a:pPr>
            <a:r>
              <a:rPr lang="en-US" sz="2267" b="1" spc="-6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MENTOR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476625" y="7058025"/>
            <a:ext cx="2409825" cy="1304925"/>
            <a:chOff x="0" y="0"/>
            <a:chExt cx="3213100" cy="1739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13100" cy="1739900"/>
            </a:xfrm>
            <a:custGeom>
              <a:avLst/>
              <a:gdLst/>
              <a:ahLst/>
              <a:cxnLst/>
              <a:rect l="l" t="t" r="r" b="b"/>
              <a:pathLst>
                <a:path w="3213100" h="1739900">
                  <a:moveTo>
                    <a:pt x="228600" y="0"/>
                  </a:moveTo>
                  <a:lnTo>
                    <a:pt x="2984500" y="0"/>
                  </a:lnTo>
                  <a:cubicBezTo>
                    <a:pt x="3110752" y="0"/>
                    <a:pt x="3213100" y="102348"/>
                    <a:pt x="3213100" y="228600"/>
                  </a:cubicBezTo>
                  <a:lnTo>
                    <a:pt x="3213100" y="1511300"/>
                  </a:lnTo>
                  <a:cubicBezTo>
                    <a:pt x="3213100" y="1637552"/>
                    <a:pt x="3110752" y="1739900"/>
                    <a:pt x="2984500" y="1739900"/>
                  </a:cubicBezTo>
                  <a:lnTo>
                    <a:pt x="228600" y="1739900"/>
                  </a:lnTo>
                  <a:cubicBezTo>
                    <a:pt x="102348" y="1739900"/>
                    <a:pt x="0" y="1637552"/>
                    <a:pt x="0" y="1511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AF3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213100" cy="177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12223" y="7582799"/>
            <a:ext cx="1643345" cy="332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0"/>
              </a:lnSpc>
            </a:pPr>
            <a:r>
              <a:rPr lang="en-US" sz="2355" b="1" spc="-70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Assign Task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743700" y="7058025"/>
            <a:ext cx="1971675" cy="1304925"/>
            <a:chOff x="0" y="0"/>
            <a:chExt cx="2628900" cy="1739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28900" cy="1739900"/>
            </a:xfrm>
            <a:custGeom>
              <a:avLst/>
              <a:gdLst/>
              <a:ahLst/>
              <a:cxnLst/>
              <a:rect l="l" t="t" r="r" b="b"/>
              <a:pathLst>
                <a:path w="2628900" h="1739900">
                  <a:moveTo>
                    <a:pt x="228600" y="0"/>
                  </a:moveTo>
                  <a:lnTo>
                    <a:pt x="2400300" y="0"/>
                  </a:lnTo>
                  <a:cubicBezTo>
                    <a:pt x="2526552" y="0"/>
                    <a:pt x="2628900" y="102348"/>
                    <a:pt x="2628900" y="228600"/>
                  </a:cubicBezTo>
                  <a:lnTo>
                    <a:pt x="2628900" y="1511300"/>
                  </a:lnTo>
                  <a:cubicBezTo>
                    <a:pt x="2628900" y="1637552"/>
                    <a:pt x="2526552" y="1739900"/>
                    <a:pt x="2400300" y="1739900"/>
                  </a:cubicBezTo>
                  <a:lnTo>
                    <a:pt x="228600" y="1739900"/>
                  </a:lnTo>
                  <a:cubicBezTo>
                    <a:pt x="102348" y="1739900"/>
                    <a:pt x="0" y="1637552"/>
                    <a:pt x="0" y="1511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AF3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628900" cy="177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184987" y="7619809"/>
            <a:ext cx="1192580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3"/>
              </a:lnSpc>
            </a:pPr>
            <a:r>
              <a:rPr lang="en-US" sz="2267" b="1" spc="-6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572625" y="7058025"/>
            <a:ext cx="2628900" cy="1304925"/>
            <a:chOff x="0" y="0"/>
            <a:chExt cx="3505200" cy="17399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05200" cy="1739900"/>
            </a:xfrm>
            <a:custGeom>
              <a:avLst/>
              <a:gdLst/>
              <a:ahLst/>
              <a:cxnLst/>
              <a:rect l="l" t="t" r="r" b="b"/>
              <a:pathLst>
                <a:path w="3505200" h="1739900">
                  <a:moveTo>
                    <a:pt x="228600" y="0"/>
                  </a:moveTo>
                  <a:lnTo>
                    <a:pt x="3276600" y="0"/>
                  </a:lnTo>
                  <a:cubicBezTo>
                    <a:pt x="3402852" y="0"/>
                    <a:pt x="3505200" y="102348"/>
                    <a:pt x="3505200" y="228600"/>
                  </a:cubicBezTo>
                  <a:lnTo>
                    <a:pt x="3505200" y="1511300"/>
                  </a:lnTo>
                  <a:cubicBezTo>
                    <a:pt x="3505200" y="1637552"/>
                    <a:pt x="3402852" y="1739900"/>
                    <a:pt x="3276600" y="1739900"/>
                  </a:cubicBezTo>
                  <a:lnTo>
                    <a:pt x="228600" y="1739900"/>
                  </a:lnTo>
                  <a:cubicBezTo>
                    <a:pt x="102348" y="1739900"/>
                    <a:pt x="0" y="1637552"/>
                    <a:pt x="0" y="1511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AF3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505200" cy="177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748433" y="7582798"/>
            <a:ext cx="2453092" cy="3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311" b="1" spc="-68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Submit Progress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058775" y="7058025"/>
            <a:ext cx="1971675" cy="1304925"/>
            <a:chOff x="0" y="0"/>
            <a:chExt cx="2628900" cy="17399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28900" cy="1739900"/>
            </a:xfrm>
            <a:custGeom>
              <a:avLst/>
              <a:gdLst/>
              <a:ahLst/>
              <a:cxnLst/>
              <a:rect l="l" t="t" r="r" b="b"/>
              <a:pathLst>
                <a:path w="2628900" h="1739900">
                  <a:moveTo>
                    <a:pt x="228600" y="0"/>
                  </a:moveTo>
                  <a:lnTo>
                    <a:pt x="2400300" y="0"/>
                  </a:lnTo>
                  <a:cubicBezTo>
                    <a:pt x="2526552" y="0"/>
                    <a:pt x="2628900" y="102348"/>
                    <a:pt x="2628900" y="228600"/>
                  </a:cubicBezTo>
                  <a:lnTo>
                    <a:pt x="2628900" y="1511300"/>
                  </a:lnTo>
                  <a:cubicBezTo>
                    <a:pt x="2628900" y="1637552"/>
                    <a:pt x="2526552" y="1739900"/>
                    <a:pt x="2400300" y="1739900"/>
                  </a:cubicBezTo>
                  <a:lnTo>
                    <a:pt x="228600" y="1739900"/>
                  </a:lnTo>
                  <a:cubicBezTo>
                    <a:pt x="102348" y="1739900"/>
                    <a:pt x="0" y="1637552"/>
                    <a:pt x="0" y="1511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AF3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628900" cy="177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396225" y="7411041"/>
            <a:ext cx="1415149" cy="66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</a:pPr>
            <a:r>
              <a:rPr lang="en-US" sz="2381" b="1" spc="-70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MENTOR REVIEW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7851" y="9110551"/>
            <a:ext cx="8396149" cy="411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601" spc="-77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Part of the shared </a:t>
            </a:r>
            <a:r>
              <a:rPr lang="en-US" sz="2601" b="1" spc="-7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Team A/B</a:t>
            </a:r>
            <a:r>
              <a:rPr lang="en-US" sz="2601" spc="-77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Intern Management System</a:t>
            </a:r>
          </a:p>
        </p:txBody>
      </p:sp>
      <p:sp>
        <p:nvSpPr>
          <p:cNvPr id="29" name="AutoShape 29"/>
          <p:cNvSpPr/>
          <p:nvPr/>
        </p:nvSpPr>
        <p:spPr>
          <a:xfrm>
            <a:off x="2838450" y="7705725"/>
            <a:ext cx="638175" cy="0"/>
          </a:xfrm>
          <a:prstGeom prst="line">
            <a:avLst/>
          </a:prstGeom>
          <a:ln w="38100" cap="flat">
            <a:solidFill>
              <a:srgbClr val="1F5E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5886450" y="7705725"/>
            <a:ext cx="857250" cy="0"/>
          </a:xfrm>
          <a:prstGeom prst="line">
            <a:avLst/>
          </a:prstGeom>
          <a:ln w="38100" cap="flat">
            <a:solidFill>
              <a:srgbClr val="1F5E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8715375" y="7705725"/>
            <a:ext cx="857250" cy="0"/>
          </a:xfrm>
          <a:prstGeom prst="line">
            <a:avLst/>
          </a:prstGeom>
          <a:ln w="38100" cap="flat">
            <a:solidFill>
              <a:srgbClr val="1F5E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12201525" y="7705725"/>
            <a:ext cx="857250" cy="0"/>
          </a:xfrm>
          <a:prstGeom prst="line">
            <a:avLst/>
          </a:prstGeom>
          <a:ln w="38100" cap="flat">
            <a:solidFill>
              <a:srgbClr val="1F5E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12876" y="1234745"/>
            <a:ext cx="6602324" cy="1168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8798" b="1" spc="-352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Original Plan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8929" y="2575601"/>
            <a:ext cx="7795333" cy="52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3893" b="1" spc="-15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Sprint 2 Commitment — Core MVP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7700" y="4067175"/>
            <a:ext cx="3505200" cy="3228975"/>
            <a:chOff x="0" y="0"/>
            <a:chExt cx="4673600" cy="43053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73600" cy="4305300"/>
            </a:xfrm>
            <a:custGeom>
              <a:avLst/>
              <a:gdLst/>
              <a:ahLst/>
              <a:cxnLst/>
              <a:rect l="l" t="t" r="r" b="b"/>
              <a:pathLst>
                <a:path w="4673600" h="4305300">
                  <a:moveTo>
                    <a:pt x="279400" y="0"/>
                  </a:moveTo>
                  <a:lnTo>
                    <a:pt x="4394200" y="0"/>
                  </a:lnTo>
                  <a:cubicBezTo>
                    <a:pt x="4548508" y="0"/>
                    <a:pt x="4673600" y="125092"/>
                    <a:pt x="4673600" y="279400"/>
                  </a:cubicBezTo>
                  <a:lnTo>
                    <a:pt x="4673600" y="4025900"/>
                  </a:lnTo>
                  <a:cubicBezTo>
                    <a:pt x="4673600" y="4180208"/>
                    <a:pt x="4548508" y="4305300"/>
                    <a:pt x="4394200" y="4305300"/>
                  </a:cubicBezTo>
                  <a:lnTo>
                    <a:pt x="279400" y="4305300"/>
                  </a:lnTo>
                  <a:cubicBezTo>
                    <a:pt x="125092" y="4305300"/>
                    <a:pt x="0" y="4180208"/>
                    <a:pt x="0" y="40259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CE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673600" cy="434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16147" y="4509862"/>
            <a:ext cx="899412" cy="9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1" spc="-28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198" y="5595840"/>
            <a:ext cx="2094284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Mentor</a:t>
            </a:r>
          </a:p>
          <a:p>
            <a:pPr algn="l">
              <a:lnSpc>
                <a:spcPts val="3312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Assigns Task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000625" y="4067175"/>
            <a:ext cx="3505200" cy="3228975"/>
            <a:chOff x="0" y="0"/>
            <a:chExt cx="4673600" cy="4305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73600" cy="4305300"/>
            </a:xfrm>
            <a:custGeom>
              <a:avLst/>
              <a:gdLst/>
              <a:ahLst/>
              <a:cxnLst/>
              <a:rect l="l" t="t" r="r" b="b"/>
              <a:pathLst>
                <a:path w="4673600" h="4305300">
                  <a:moveTo>
                    <a:pt x="279400" y="0"/>
                  </a:moveTo>
                  <a:lnTo>
                    <a:pt x="4394200" y="0"/>
                  </a:lnTo>
                  <a:cubicBezTo>
                    <a:pt x="4548508" y="0"/>
                    <a:pt x="4673600" y="125092"/>
                    <a:pt x="4673600" y="279400"/>
                  </a:cubicBezTo>
                  <a:lnTo>
                    <a:pt x="4673600" y="4025900"/>
                  </a:lnTo>
                  <a:cubicBezTo>
                    <a:pt x="4673600" y="4180208"/>
                    <a:pt x="4548508" y="4305300"/>
                    <a:pt x="4394200" y="4305300"/>
                  </a:cubicBezTo>
                  <a:lnTo>
                    <a:pt x="279400" y="4305300"/>
                  </a:lnTo>
                  <a:cubicBezTo>
                    <a:pt x="125092" y="4305300"/>
                    <a:pt x="0" y="4180208"/>
                    <a:pt x="0" y="40259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CE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673600" cy="434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400547" y="4509862"/>
            <a:ext cx="1084329" cy="9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1" spc="-28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93506" y="5595840"/>
            <a:ext cx="1788496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Intern</a:t>
            </a:r>
          </a:p>
          <a:p>
            <a:pPr algn="l">
              <a:lnSpc>
                <a:spcPts val="3312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Views Task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72625" y="4067175"/>
            <a:ext cx="3505200" cy="3228975"/>
            <a:chOff x="0" y="0"/>
            <a:chExt cx="4673600" cy="4305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73600" cy="4305300"/>
            </a:xfrm>
            <a:custGeom>
              <a:avLst/>
              <a:gdLst/>
              <a:ahLst/>
              <a:cxnLst/>
              <a:rect l="l" t="t" r="r" b="b"/>
              <a:pathLst>
                <a:path w="4673600" h="4305300">
                  <a:moveTo>
                    <a:pt x="279400" y="0"/>
                  </a:moveTo>
                  <a:lnTo>
                    <a:pt x="4394200" y="0"/>
                  </a:lnTo>
                  <a:cubicBezTo>
                    <a:pt x="4548508" y="0"/>
                    <a:pt x="4673600" y="125092"/>
                    <a:pt x="4673600" y="279400"/>
                  </a:cubicBezTo>
                  <a:lnTo>
                    <a:pt x="4673600" y="4025900"/>
                  </a:lnTo>
                  <a:cubicBezTo>
                    <a:pt x="4673600" y="4180208"/>
                    <a:pt x="4548508" y="4305300"/>
                    <a:pt x="4394200" y="4305300"/>
                  </a:cubicBezTo>
                  <a:lnTo>
                    <a:pt x="279400" y="4305300"/>
                  </a:lnTo>
                  <a:cubicBezTo>
                    <a:pt x="125092" y="4305300"/>
                    <a:pt x="0" y="4180208"/>
                    <a:pt x="0" y="40259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CE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673600" cy="434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954395" y="4509862"/>
            <a:ext cx="1113600" cy="9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1" spc="-28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38460" y="5595840"/>
            <a:ext cx="2707153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Weekly Progress Submission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144625" y="4067175"/>
            <a:ext cx="3505200" cy="3228975"/>
            <a:chOff x="0" y="0"/>
            <a:chExt cx="4673600" cy="4305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73600" cy="4305300"/>
            </a:xfrm>
            <a:custGeom>
              <a:avLst/>
              <a:gdLst/>
              <a:ahLst/>
              <a:cxnLst/>
              <a:rect l="l" t="t" r="r" b="b"/>
              <a:pathLst>
                <a:path w="4673600" h="4305300">
                  <a:moveTo>
                    <a:pt x="279400" y="0"/>
                  </a:moveTo>
                  <a:lnTo>
                    <a:pt x="4394200" y="0"/>
                  </a:lnTo>
                  <a:cubicBezTo>
                    <a:pt x="4548508" y="0"/>
                    <a:pt x="4673600" y="125092"/>
                    <a:pt x="4673600" y="279400"/>
                  </a:cubicBezTo>
                  <a:lnTo>
                    <a:pt x="4673600" y="4025900"/>
                  </a:lnTo>
                  <a:cubicBezTo>
                    <a:pt x="4673600" y="4180208"/>
                    <a:pt x="4548508" y="4305300"/>
                    <a:pt x="4394200" y="4305300"/>
                  </a:cubicBezTo>
                  <a:lnTo>
                    <a:pt x="279400" y="4305300"/>
                  </a:lnTo>
                  <a:cubicBezTo>
                    <a:pt x="125092" y="4305300"/>
                    <a:pt x="0" y="4180208"/>
                    <a:pt x="0" y="40259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CE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673600" cy="434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562165" y="4509862"/>
            <a:ext cx="1108489" cy="94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1" spc="-28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45015" y="5595840"/>
            <a:ext cx="2823526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Mentor</a:t>
            </a:r>
          </a:p>
          <a:p>
            <a:pPr algn="l">
              <a:lnSpc>
                <a:spcPts val="3312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Reviews Progress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68772" y="8020636"/>
            <a:ext cx="10129000" cy="1116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6"/>
              </a:lnSpc>
            </a:pPr>
            <a:r>
              <a:rPr lang="en-US" sz="3713" b="1" spc="-148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Target:</a:t>
            </a:r>
            <a:r>
              <a:rPr lang="en-US" sz="3713" spc="-14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One deployed end-to-end Core MVP with persistent data and minimum RBAC</a:t>
            </a:r>
          </a:p>
        </p:txBody>
      </p:sp>
      <p:sp>
        <p:nvSpPr>
          <p:cNvPr id="26" name="AutoShape 26"/>
          <p:cNvSpPr/>
          <p:nvPr/>
        </p:nvSpPr>
        <p:spPr>
          <a:xfrm>
            <a:off x="4152900" y="5676900"/>
            <a:ext cx="847725" cy="0"/>
          </a:xfrm>
          <a:prstGeom prst="line">
            <a:avLst/>
          </a:prstGeom>
          <a:ln w="38100" cap="flat">
            <a:solidFill>
              <a:srgbClr val="1F5E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8505825" y="5676900"/>
            <a:ext cx="1066800" cy="0"/>
          </a:xfrm>
          <a:prstGeom prst="line">
            <a:avLst/>
          </a:prstGeom>
          <a:ln w="38100" cap="flat">
            <a:solidFill>
              <a:srgbClr val="1F5E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3077825" y="5676900"/>
            <a:ext cx="1066800" cy="0"/>
          </a:xfrm>
          <a:prstGeom prst="line">
            <a:avLst/>
          </a:prstGeom>
          <a:ln w="38100" cap="flat">
            <a:solidFill>
              <a:srgbClr val="1F5E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95204" y="595641"/>
            <a:ext cx="7452287" cy="97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3"/>
              </a:lnSpc>
            </a:pPr>
            <a:r>
              <a:rPr lang="en-US" sz="6426" b="1" spc="-25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Actual Achievement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6089" y="2131451"/>
            <a:ext cx="7452286" cy="1843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86"/>
              </a:lnSpc>
              <a:spcBef>
                <a:spcPct val="0"/>
              </a:spcBef>
            </a:pPr>
            <a:r>
              <a:rPr lang="en-US" sz="3908" b="1" spc="-191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DEPLOYED CORE MVP</a:t>
            </a:r>
          </a:p>
          <a:p>
            <a:pPr algn="ctr">
              <a:lnSpc>
                <a:spcPts val="4886"/>
              </a:lnSpc>
              <a:spcBef>
                <a:spcPct val="0"/>
              </a:spcBef>
            </a:pPr>
            <a:r>
              <a:rPr lang="en-US" sz="3908" b="1" spc="-191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         Working end-to-end on </a:t>
            </a:r>
            <a:r>
              <a:rPr lang="en-US" sz="3908" b="1" spc="-191" dirty="0" err="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Vercel</a:t>
            </a:r>
            <a:endParaRPr lang="en-US" sz="3908" b="1" spc="-191" dirty="0">
              <a:solidFill>
                <a:srgbClr val="000000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algn="ctr">
              <a:lnSpc>
                <a:spcPts val="4886"/>
              </a:lnSpc>
              <a:spcBef>
                <a:spcPct val="0"/>
              </a:spcBef>
            </a:pPr>
            <a:endParaRPr lang="en-US" sz="3908" b="1" spc="-191" dirty="0">
              <a:solidFill>
                <a:srgbClr val="000000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739692" y="5697560"/>
            <a:ext cx="3145334" cy="43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sz="2759" b="1" u="sng" spc="-137" dirty="0">
                <a:solidFill>
                  <a:srgbClr val="42ADE3"/>
                </a:solidFill>
                <a:latin typeface="Public Sans Medium"/>
                <a:ea typeface="Public Sans Medium"/>
                <a:cs typeface="Public Sans Medium"/>
                <a:sym typeface="Public Sans Medium"/>
                <a:hlinkClick r:id="rId3" tooltip="https://intern-management-system-frontend-pi.vercel.app/?utm_source=chatgpt.com"/>
              </a:rPr>
              <a:t> </a:t>
            </a:r>
            <a:r>
              <a:rPr lang="en-US" sz="2759" b="1" u="sng" spc="-137" dirty="0">
                <a:solidFill>
                  <a:srgbClr val="42ADE3"/>
                </a:solidFill>
                <a:latin typeface="Public Sans Medium"/>
                <a:ea typeface="Public Sans Medium"/>
                <a:cs typeface="Public Sans Medium"/>
                <a:sym typeface="Public Sans Medium"/>
                <a:hlinkClick r:id="rId3" tooltip="https://intern-management-system-frontend-pi.vercel.app/?utm_source=chatgpt.com"/>
              </a:rPr>
              <a:t>▶</a:t>
            </a:r>
            <a:r>
              <a:rPr lang="en-US" sz="2759" b="1" u="sng" spc="-137" dirty="0">
                <a:solidFill>
                  <a:srgbClr val="42ADE3"/>
                </a:solidFill>
                <a:latin typeface="Public Sans Medium"/>
                <a:ea typeface="Public Sans Medium"/>
                <a:cs typeface="Public Sans Medium"/>
                <a:sym typeface="Public Sans Medium"/>
                <a:hlinkClick r:id="rId3" tooltip="https://intern-management-system-frontend-pi.vercel.app/?utm_source=chatgpt.com"/>
              </a:rPr>
              <a:t> OPEN LIVE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0612" y="899347"/>
            <a:ext cx="7362787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1" spc="-403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Why It Matters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66775" y="2352675"/>
            <a:ext cx="6981825" cy="5362575"/>
            <a:chOff x="0" y="0"/>
            <a:chExt cx="9309100" cy="715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09100" cy="7150100"/>
            </a:xfrm>
            <a:custGeom>
              <a:avLst/>
              <a:gdLst/>
              <a:ahLst/>
              <a:cxnLst/>
              <a:rect l="l" t="t" r="r" b="b"/>
              <a:pathLst>
                <a:path w="9309100" h="7150100">
                  <a:moveTo>
                    <a:pt x="279400" y="0"/>
                  </a:moveTo>
                  <a:lnTo>
                    <a:pt x="9029700" y="0"/>
                  </a:lnTo>
                  <a:cubicBezTo>
                    <a:pt x="9184008" y="0"/>
                    <a:pt x="9309100" y="125092"/>
                    <a:pt x="9309100" y="279400"/>
                  </a:cubicBezTo>
                  <a:lnTo>
                    <a:pt x="9309100" y="6870700"/>
                  </a:lnTo>
                  <a:cubicBezTo>
                    <a:pt x="9309100" y="7025008"/>
                    <a:pt x="9184008" y="7150100"/>
                    <a:pt x="9029700" y="7150100"/>
                  </a:cubicBezTo>
                  <a:lnTo>
                    <a:pt x="279400" y="7150100"/>
                  </a:lnTo>
                  <a:cubicBezTo>
                    <a:pt x="125092" y="7150100"/>
                    <a:pt x="0" y="7025008"/>
                    <a:pt x="0" y="68707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CE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309100" cy="7188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67053" y="2770096"/>
            <a:ext cx="2856827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5139" b="1" spc="-255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BEFORE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7052" y="3462570"/>
            <a:ext cx="3628947" cy="408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759" b="1" spc="-137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Fragmented / Manual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9906" y="4712620"/>
            <a:ext cx="4318713" cy="408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b="1" spc="-137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Task tracking across tools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6188" y="5495783"/>
            <a:ext cx="4399931" cy="429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b="1" spc="-13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No consistent progress 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0732" y="6263886"/>
            <a:ext cx="5102467" cy="408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b="1" spc="-137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Manual Mentor-Intern follow-up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10775" y="2352675"/>
            <a:ext cx="7200900" cy="5362575"/>
            <a:chOff x="0" y="0"/>
            <a:chExt cx="9601200" cy="7150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01200" cy="7150100"/>
            </a:xfrm>
            <a:custGeom>
              <a:avLst/>
              <a:gdLst/>
              <a:ahLst/>
              <a:cxnLst/>
              <a:rect l="l" t="t" r="r" b="b"/>
              <a:pathLst>
                <a:path w="9601200" h="7150100">
                  <a:moveTo>
                    <a:pt x="279400" y="0"/>
                  </a:moveTo>
                  <a:lnTo>
                    <a:pt x="9321800" y="0"/>
                  </a:lnTo>
                  <a:cubicBezTo>
                    <a:pt x="9476108" y="0"/>
                    <a:pt x="9601200" y="125092"/>
                    <a:pt x="9601200" y="279400"/>
                  </a:cubicBezTo>
                  <a:lnTo>
                    <a:pt x="9601200" y="6870700"/>
                  </a:lnTo>
                  <a:cubicBezTo>
                    <a:pt x="9601200" y="7025008"/>
                    <a:pt x="9476108" y="7150100"/>
                    <a:pt x="9321800" y="7150100"/>
                  </a:cubicBezTo>
                  <a:lnTo>
                    <a:pt x="279400" y="7150100"/>
                  </a:lnTo>
                  <a:cubicBezTo>
                    <a:pt x="125092" y="7150100"/>
                    <a:pt x="0" y="7025008"/>
                    <a:pt x="0" y="68707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CE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601200" cy="7188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698034" y="2770096"/>
            <a:ext cx="1601948" cy="687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5139" b="1" spc="-25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97851" y="3462570"/>
            <a:ext cx="3802314" cy="429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759" b="1" spc="-13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One Deployed Workflow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11767" y="4697559"/>
            <a:ext cx="3309033" cy="408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b="1" spc="-137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Assign &amp; track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05037" y="5405418"/>
            <a:ext cx="3737736" cy="429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b="1" spc="-13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Submit weekly progress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3324" y="6083156"/>
            <a:ext cx="4909001" cy="429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b="1" spc="-13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Review submissions &amp; progress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03906" y="6775955"/>
            <a:ext cx="4155094" cy="408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b="1" spc="-137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Persistent status visibility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66775" y="7924800"/>
            <a:ext cx="16344900" cy="1933575"/>
            <a:chOff x="0" y="0"/>
            <a:chExt cx="21793200" cy="2578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93200" cy="2578100"/>
            </a:xfrm>
            <a:custGeom>
              <a:avLst/>
              <a:gdLst/>
              <a:ahLst/>
              <a:cxnLst/>
              <a:rect l="l" t="t" r="r" b="b"/>
              <a:pathLst>
                <a:path w="21793200" h="2578100">
                  <a:moveTo>
                    <a:pt x="279400" y="0"/>
                  </a:moveTo>
                  <a:lnTo>
                    <a:pt x="21513800" y="0"/>
                  </a:lnTo>
                  <a:cubicBezTo>
                    <a:pt x="21668108" y="0"/>
                    <a:pt x="21793200" y="125092"/>
                    <a:pt x="21793200" y="279400"/>
                  </a:cubicBezTo>
                  <a:lnTo>
                    <a:pt x="21793200" y="2298700"/>
                  </a:lnTo>
                  <a:cubicBezTo>
                    <a:pt x="21793200" y="2453008"/>
                    <a:pt x="21668108" y="2578100"/>
                    <a:pt x="21513800" y="2578100"/>
                  </a:cubicBezTo>
                  <a:lnTo>
                    <a:pt x="279400" y="2578100"/>
                  </a:lnTo>
                  <a:cubicBezTo>
                    <a:pt x="125092" y="2578100"/>
                    <a:pt x="0" y="2453008"/>
                    <a:pt x="0" y="22987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EAF3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1793200" cy="261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020570" y="8332835"/>
            <a:ext cx="11655717" cy="100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2"/>
              </a:lnSpc>
            </a:pPr>
            <a:r>
              <a:rPr lang="en-US" sz="3234" b="1" spc="-16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FSC can now demonstrate the complete</a:t>
            </a:r>
          </a:p>
          <a:p>
            <a:pPr algn="ctr">
              <a:lnSpc>
                <a:spcPts val="4042"/>
              </a:lnSpc>
            </a:pPr>
            <a:r>
              <a:rPr lang="en-US" sz="3234" b="1" spc="-16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Mentor-Intern task and progress workflow on a deployed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74755" y="841809"/>
            <a:ext cx="13522245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b="1" spc="-313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Blockers &amp; Open Questions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47700" y="2547110"/>
            <a:ext cx="8496300" cy="5791200"/>
            <a:chOff x="0" y="0"/>
            <a:chExt cx="11328400" cy="772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28400" cy="7721600"/>
            </a:xfrm>
            <a:custGeom>
              <a:avLst/>
              <a:gdLst/>
              <a:ahLst/>
              <a:cxnLst/>
              <a:rect l="l" t="t" r="r" b="b"/>
              <a:pathLst>
                <a:path w="11328400" h="7721600">
                  <a:moveTo>
                    <a:pt x="279400" y="0"/>
                  </a:moveTo>
                  <a:lnTo>
                    <a:pt x="11049000" y="0"/>
                  </a:lnTo>
                  <a:cubicBezTo>
                    <a:pt x="11203308" y="0"/>
                    <a:pt x="11328400" y="125092"/>
                    <a:pt x="11328400" y="279400"/>
                  </a:cubicBezTo>
                  <a:lnTo>
                    <a:pt x="11328400" y="7442200"/>
                  </a:lnTo>
                  <a:cubicBezTo>
                    <a:pt x="11328400" y="7596508"/>
                    <a:pt x="11203308" y="7721600"/>
                    <a:pt x="11049000" y="7721600"/>
                  </a:cubicBezTo>
                  <a:lnTo>
                    <a:pt x="279400" y="7721600"/>
                  </a:lnTo>
                  <a:cubicBezTo>
                    <a:pt x="125092" y="7721600"/>
                    <a:pt x="0" y="7596508"/>
                    <a:pt x="0" y="74422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CE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328400" cy="775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97441" y="2660738"/>
            <a:ext cx="1014685" cy="83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b="1" spc="-25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12139" y="2821186"/>
            <a:ext cx="4529847" cy="44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132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Final Team A/B Routing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4417" y="4242867"/>
            <a:ext cx="6109058" cy="32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Shared authentication &amp; identity integrated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8059" y="4890827"/>
            <a:ext cx="5744921" cy="32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Automatic role-based workspace routing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85850" y="6000750"/>
            <a:ext cx="2181225" cy="1504950"/>
          </a:xfrm>
          <a:custGeom>
            <a:avLst/>
            <a:gdLst/>
            <a:ahLst/>
            <a:cxnLst/>
            <a:rect l="l" t="t" r="r" b="b"/>
            <a:pathLst>
              <a:path w="2181225" h="1504950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76" t="-7176" r="-7176" b="-71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760057" y="6563469"/>
            <a:ext cx="876300" cy="328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99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Login</a:t>
            </a:r>
          </a:p>
        </p:txBody>
      </p:sp>
      <p:sp>
        <p:nvSpPr>
          <p:cNvPr id="13" name="Freeform 13"/>
          <p:cNvSpPr/>
          <p:nvPr/>
        </p:nvSpPr>
        <p:spPr>
          <a:xfrm>
            <a:off x="3048000" y="64293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196" t="-25196" r="-25196" b="-251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914775" y="6000750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176" t="-7176" r="-7176" b="-71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467221" y="6563469"/>
            <a:ext cx="762003" cy="328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99" dirty="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Role</a:t>
            </a:r>
          </a:p>
        </p:txBody>
      </p:sp>
      <p:sp>
        <p:nvSpPr>
          <p:cNvPr id="16" name="Freeform 16"/>
          <p:cNvSpPr/>
          <p:nvPr/>
        </p:nvSpPr>
        <p:spPr>
          <a:xfrm>
            <a:off x="5657850" y="64293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196" t="-25196" r="-25196" b="-251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6305550" y="5572125"/>
            <a:ext cx="2409825" cy="2143125"/>
          </a:xfrm>
          <a:custGeom>
            <a:avLst/>
            <a:gdLst/>
            <a:ahLst/>
            <a:cxnLst/>
            <a:rect l="l" t="t" r="r" b="b"/>
            <a:pathLst>
              <a:path w="2409825" h="2143125">
                <a:moveTo>
                  <a:pt x="0" y="0"/>
                </a:moveTo>
                <a:lnTo>
                  <a:pt x="2409825" y="0"/>
                </a:lnTo>
                <a:lnTo>
                  <a:pt x="24098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39" t="-5039" r="-5039" b="-50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763514" y="5805357"/>
            <a:ext cx="1530693" cy="1383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b="1" spc="-99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Applicant</a:t>
            </a:r>
          </a:p>
          <a:p>
            <a:pPr algn="l">
              <a:lnSpc>
                <a:spcPts val="3730"/>
              </a:lnSpc>
            </a:pPr>
            <a:r>
              <a:rPr lang="en-US" sz="2487" b="1" spc="-99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Intern</a:t>
            </a:r>
          </a:p>
          <a:p>
            <a:pPr algn="l">
              <a:lnSpc>
                <a:spcPts val="3730"/>
              </a:lnSpc>
            </a:pPr>
            <a:r>
              <a:rPr lang="en-US" sz="2487" b="1" spc="-99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Mentor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44012" y="2547110"/>
            <a:ext cx="8286750" cy="5791200"/>
            <a:chOff x="0" y="0"/>
            <a:chExt cx="11049000" cy="7721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049000" cy="7721600"/>
            </a:xfrm>
            <a:custGeom>
              <a:avLst/>
              <a:gdLst/>
              <a:ahLst/>
              <a:cxnLst/>
              <a:rect l="l" t="t" r="r" b="b"/>
              <a:pathLst>
                <a:path w="11049000" h="7721600">
                  <a:moveTo>
                    <a:pt x="279400" y="0"/>
                  </a:moveTo>
                  <a:lnTo>
                    <a:pt x="10769600" y="0"/>
                  </a:lnTo>
                  <a:cubicBezTo>
                    <a:pt x="10923908" y="0"/>
                    <a:pt x="11049000" y="125092"/>
                    <a:pt x="11049000" y="279400"/>
                  </a:cubicBezTo>
                  <a:lnTo>
                    <a:pt x="11049000" y="7442200"/>
                  </a:lnTo>
                  <a:cubicBezTo>
                    <a:pt x="11049000" y="7596508"/>
                    <a:pt x="10923908" y="7721600"/>
                    <a:pt x="10769600" y="7721600"/>
                  </a:cubicBezTo>
                  <a:lnTo>
                    <a:pt x="279400" y="7721600"/>
                  </a:lnTo>
                  <a:cubicBezTo>
                    <a:pt x="125092" y="7721600"/>
                    <a:pt x="0" y="7596508"/>
                    <a:pt x="0" y="74422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CE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1049000" cy="775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715251" y="2651885"/>
            <a:ext cx="1101257" cy="7765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68"/>
              </a:lnSpc>
            </a:pPr>
            <a:r>
              <a:rPr lang="en-US" sz="5868" b="1" spc="-234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16509" y="2821186"/>
            <a:ext cx="5985058" cy="44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13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Client-Requested Notifications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14970" y="4242867"/>
            <a:ext cx="3624831" cy="32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Intern: New task assigned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02271" y="4890827"/>
            <a:ext cx="4894730" cy="32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Mentor: Intern submission received</a:t>
            </a:r>
          </a:p>
        </p:txBody>
      </p:sp>
      <p:sp>
        <p:nvSpPr>
          <p:cNvPr id="26" name="Freeform 26"/>
          <p:cNvSpPr/>
          <p:nvPr/>
        </p:nvSpPr>
        <p:spPr>
          <a:xfrm>
            <a:off x="9572625" y="5572125"/>
            <a:ext cx="7629525" cy="219075"/>
          </a:xfrm>
          <a:custGeom>
            <a:avLst/>
            <a:gdLst/>
            <a:ahLst/>
            <a:cxnLst/>
            <a:rect l="l" t="t" r="r" b="b"/>
            <a:pathLst>
              <a:path w="7629525" h="219075">
                <a:moveTo>
                  <a:pt x="0" y="0"/>
                </a:moveTo>
                <a:lnTo>
                  <a:pt x="7629525" y="0"/>
                </a:lnTo>
                <a:lnTo>
                  <a:pt x="7629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9697035" y="6029995"/>
            <a:ext cx="5418334" cy="95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Status:</a:t>
            </a:r>
            <a:r>
              <a:rPr lang="en-US" sz="2759" spc="-11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Sprint 3 secondary feature</a:t>
            </a:r>
          </a:p>
          <a:p>
            <a:pPr algn="l">
              <a:lnSpc>
                <a:spcPts val="3863"/>
              </a:lnSpc>
            </a:pPr>
            <a:r>
              <a:rPr lang="en-US" sz="2759" spc="-11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— after Core integration is 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52444" y="889349"/>
            <a:ext cx="14511355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b="1" spc="-469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Task Allocation &amp; Time Spent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8186" y="2063449"/>
            <a:ext cx="6869685" cy="459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b="1" spc="-139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Sprint 2 Commitment — Core MVP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995365"/>
            <a:ext cx="4364182" cy="1727254"/>
          </a:xfrm>
          <a:custGeom>
            <a:avLst/>
            <a:gdLst/>
            <a:ahLst/>
            <a:cxnLst/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" t="-21"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68164" y="3495484"/>
            <a:ext cx="1587494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157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Jianqi Lu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4493047"/>
            <a:ext cx="4364182" cy="5159898"/>
          </a:xfrm>
          <a:custGeom>
            <a:avLst/>
            <a:gdLst/>
            <a:ahLst/>
            <a:cxnLst/>
            <a:rect l="l" t="t" r="r" b="b"/>
            <a:pathLst>
              <a:path w="4364182" h="5159898">
                <a:moveTo>
                  <a:pt x="0" y="0"/>
                </a:moveTo>
                <a:lnTo>
                  <a:pt x="4364182" y="0"/>
                </a:lnTo>
                <a:lnTo>
                  <a:pt x="436418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78016" y="4971447"/>
            <a:ext cx="602320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15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4039" y="5821011"/>
            <a:ext cx="3750469" cy="122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Planning</a:t>
            </a:r>
          </a:p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Client/Advisor Coordination</a:t>
            </a:r>
          </a:p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Cross-Team Integration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4086" y="7499343"/>
            <a:ext cx="3707914" cy="218640"/>
          </a:xfrm>
          <a:custGeom>
            <a:avLst/>
            <a:gdLst/>
            <a:ahLst/>
            <a:cxnLst/>
            <a:rect l="l" t="t" r="r" b="b"/>
            <a:pathLst>
              <a:path w="3707914" h="218640">
                <a:moveTo>
                  <a:pt x="0" y="0"/>
                </a:moveTo>
                <a:lnTo>
                  <a:pt x="3707914" y="0"/>
                </a:lnTo>
                <a:lnTo>
                  <a:pt x="370791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343" t="-49396" r="-49343" b="-493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779818" y="2995365"/>
            <a:ext cx="4364182" cy="1727254"/>
          </a:xfrm>
          <a:custGeom>
            <a:avLst/>
            <a:gdLst/>
            <a:ahLst/>
            <a:cxnLst/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" t="-21"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134073" y="3751518"/>
            <a:ext cx="3621583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157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Chan Hoang Truong</a:t>
            </a:r>
          </a:p>
        </p:txBody>
      </p:sp>
      <p:sp>
        <p:nvSpPr>
          <p:cNvPr id="13" name="Freeform 13"/>
          <p:cNvSpPr/>
          <p:nvPr/>
        </p:nvSpPr>
        <p:spPr>
          <a:xfrm>
            <a:off x="4779818" y="4493047"/>
            <a:ext cx="4364182" cy="5159898"/>
          </a:xfrm>
          <a:custGeom>
            <a:avLst/>
            <a:gdLst/>
            <a:ahLst/>
            <a:cxnLst/>
            <a:rect l="l" t="t" r="r" b="b"/>
            <a:pathLst>
              <a:path w="4364182" h="5159898">
                <a:moveTo>
                  <a:pt x="0" y="0"/>
                </a:moveTo>
                <a:lnTo>
                  <a:pt x="4364182" y="0"/>
                </a:lnTo>
                <a:lnTo>
                  <a:pt x="436418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162462" y="4971447"/>
            <a:ext cx="782731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15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DEV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70289" y="5821011"/>
            <a:ext cx="3750469" cy="122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Core MVP</a:t>
            </a:r>
          </a:p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Deployment</a:t>
            </a:r>
          </a:p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Shared Integration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9144000" y="2995365"/>
            <a:ext cx="4364182" cy="1727254"/>
          </a:xfrm>
          <a:custGeom>
            <a:avLst/>
            <a:gdLst/>
            <a:ahLst/>
            <a:cxnLst/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" t="-21"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542870" y="3485906"/>
            <a:ext cx="2082491" cy="91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3304" b="1" spc="-164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Faridullah</a:t>
            </a:r>
          </a:p>
          <a:p>
            <a:pPr algn="l">
              <a:lnSpc>
                <a:spcPts val="3633"/>
              </a:lnSpc>
            </a:pPr>
            <a:r>
              <a:rPr lang="en-US" sz="3304" b="1" spc="-164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Jabbar Khil</a:t>
            </a:r>
          </a:p>
        </p:txBody>
      </p:sp>
      <p:sp>
        <p:nvSpPr>
          <p:cNvPr id="18" name="Freeform 18"/>
          <p:cNvSpPr/>
          <p:nvPr/>
        </p:nvSpPr>
        <p:spPr>
          <a:xfrm>
            <a:off x="9144000" y="4493047"/>
            <a:ext cx="4364182" cy="5159898"/>
          </a:xfrm>
          <a:custGeom>
            <a:avLst/>
            <a:gdLst/>
            <a:ahLst/>
            <a:cxnLst/>
            <a:rect l="l" t="t" r="r" b="b"/>
            <a:pathLst>
              <a:path w="4364182" h="5159898">
                <a:moveTo>
                  <a:pt x="0" y="0"/>
                </a:moveTo>
                <a:lnTo>
                  <a:pt x="4364182" y="0"/>
                </a:lnTo>
                <a:lnTo>
                  <a:pt x="436418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9558143" y="4971447"/>
            <a:ext cx="555194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15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UX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63695" y="5821011"/>
            <a:ext cx="3750469" cy="122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UX Refinement</a:t>
            </a:r>
          </a:p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Client Feedback</a:t>
            </a:r>
          </a:p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Playback Evidence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497244" y="2995365"/>
            <a:ext cx="4364182" cy="1727254"/>
          </a:xfrm>
          <a:custGeom>
            <a:avLst/>
            <a:gdLst/>
            <a:ahLst/>
            <a:cxnLst/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" t="-21"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3853478" y="3485906"/>
            <a:ext cx="2325668" cy="91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3304" b="1" spc="-164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Shakthijhaa</a:t>
            </a:r>
          </a:p>
          <a:p>
            <a:pPr algn="l">
              <a:lnSpc>
                <a:spcPts val="3633"/>
              </a:lnSpc>
            </a:pPr>
            <a:r>
              <a:rPr lang="en-US" sz="3304" b="1" spc="-164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Sivagnanam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497244" y="4493047"/>
            <a:ext cx="4364182" cy="5159898"/>
          </a:xfrm>
          <a:custGeom>
            <a:avLst/>
            <a:gdLst/>
            <a:ahLst/>
            <a:cxnLst/>
            <a:rect l="l" t="t" r="r" b="b"/>
            <a:pathLst>
              <a:path w="4364182" h="5159898">
                <a:moveTo>
                  <a:pt x="0" y="0"/>
                </a:moveTo>
                <a:lnTo>
                  <a:pt x="4364182" y="0"/>
                </a:lnTo>
                <a:lnTo>
                  <a:pt x="436418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3871449" y="4971447"/>
            <a:ext cx="528495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15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76734" y="5821011"/>
            <a:ext cx="3750469" cy="122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Acceptance Testing</a:t>
            </a:r>
          </a:p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Defect Validation</a:t>
            </a:r>
          </a:p>
          <a:p>
            <a:pPr algn="l">
              <a:lnSpc>
                <a:spcPts val="3282"/>
              </a:lnSpc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RBAC Validation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4039" y="7921504"/>
            <a:ext cx="3750469" cy="4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 spc="-11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Total Mins:  780mins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43028" y="7925784"/>
            <a:ext cx="4364182" cy="402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  <a:spcBef>
                <a:spcPct val="0"/>
              </a:spcBef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Total Mins: 720mins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7210" y="7925784"/>
            <a:ext cx="4364182" cy="402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  <a:spcBef>
                <a:spcPct val="0"/>
              </a:spcBef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Total Mins: 720mins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95118" y="7925784"/>
            <a:ext cx="4364182" cy="402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  <a:spcBef>
                <a:spcPct val="0"/>
              </a:spcBef>
            </a:pPr>
            <a:r>
              <a:rPr lang="en-US" sz="2188" b="1" spc="-10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Total Mins: 720mins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64530" y="394668"/>
            <a:ext cx="10085050" cy="1086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38"/>
              </a:lnSpc>
            </a:pPr>
            <a:r>
              <a:rPr lang="en-US" sz="6845" b="1" spc="-274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Timeline &amp; 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8638" y="1782521"/>
            <a:ext cx="4824526" cy="50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970" b="1" spc="-118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Sprint 2 — Major Milestones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12239" y="1782521"/>
            <a:ext cx="3897928" cy="50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970" b="1" spc="-118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Sprint 3 — Refine MVP</a:t>
            </a:r>
          </a:p>
        </p:txBody>
      </p:sp>
      <p:sp>
        <p:nvSpPr>
          <p:cNvPr id="6" name="Freeform 6"/>
          <p:cNvSpPr/>
          <p:nvPr/>
        </p:nvSpPr>
        <p:spPr>
          <a:xfrm>
            <a:off x="1520354" y="2776725"/>
            <a:ext cx="448450" cy="4941258"/>
          </a:xfrm>
          <a:custGeom>
            <a:avLst/>
            <a:gdLst/>
            <a:ahLst/>
            <a:cxnLst/>
            <a:rect l="l" t="t" r="r" b="b"/>
            <a:pathLst>
              <a:path w="448450" h="4941258">
                <a:moveTo>
                  <a:pt x="0" y="0"/>
                </a:moveTo>
                <a:lnTo>
                  <a:pt x="448450" y="0"/>
                </a:lnTo>
                <a:lnTo>
                  <a:pt x="448450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9" b="-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20354" y="2776725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001" t="-24226" r="-24253" b="-241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20354" y="3640352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001" t="-24105" r="-24253" b="-241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20354" y="4493047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001" t="-24105" r="-24253" b="-241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20354" y="5356674"/>
            <a:ext cx="448450" cy="644987"/>
          </a:xfrm>
          <a:custGeom>
            <a:avLst/>
            <a:gdLst/>
            <a:ahLst/>
            <a:cxnLst/>
            <a:rect l="l" t="t" r="r" b="b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001" t="-24071" r="-24253" b="-241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20354" y="6428009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638" t="-24614" r="-24677" b="-248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20354" y="728070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4638" t="-24614" r="-24677" b="-248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176622" y="2569017"/>
            <a:ext cx="4582938" cy="863627"/>
          </a:xfrm>
          <a:custGeom>
            <a:avLst/>
            <a:gdLst/>
            <a:ahLst/>
            <a:cxnLst/>
            <a:rect l="l" t="t" r="r" b="b"/>
            <a:pathLst>
              <a:path w="4582938" h="863627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" t="-9" b="-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437805" y="2786070"/>
            <a:ext cx="6349008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CORE MVP IMPLEMENTATION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2176622" y="3640352"/>
            <a:ext cx="1312536" cy="655919"/>
          </a:xfrm>
          <a:custGeom>
            <a:avLst/>
            <a:gdLst/>
            <a:ahLst/>
            <a:cxnLst/>
            <a:rect l="l" t="t" r="r" b="b"/>
            <a:pathLst>
              <a:path w="1312536" h="655919">
                <a:moveTo>
                  <a:pt x="0" y="0"/>
                </a:moveTo>
                <a:lnTo>
                  <a:pt x="1312536" y="0"/>
                </a:lnTo>
                <a:lnTo>
                  <a:pt x="1312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6400" t="-16409" r="-16473" b="-16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2176622" y="4493047"/>
            <a:ext cx="6322048" cy="655919"/>
          </a:xfrm>
          <a:custGeom>
            <a:avLst/>
            <a:gdLst/>
            <a:ahLst/>
            <a:cxnLst/>
            <a:rect l="l" t="t" r="r" b="b"/>
            <a:pathLst>
              <a:path w="6322048" h="655919">
                <a:moveTo>
                  <a:pt x="0" y="0"/>
                </a:moveTo>
                <a:lnTo>
                  <a:pt x="6322048" y="0"/>
                </a:lnTo>
                <a:lnTo>
                  <a:pt x="6322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" t="-4" r="-5" b="-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2437805" y="4593371"/>
            <a:ext cx="6349008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CORE MVP DEPLOYMENT &amp; STABILISATION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2176622" y="5356674"/>
            <a:ext cx="1312536" cy="644987"/>
          </a:xfrm>
          <a:custGeom>
            <a:avLst/>
            <a:gdLst/>
            <a:ahLst/>
            <a:cxnLst/>
            <a:rect l="l" t="t" r="r" b="b"/>
            <a:pathLst>
              <a:path w="1312536" h="644987">
                <a:moveTo>
                  <a:pt x="0" y="0"/>
                </a:moveTo>
                <a:lnTo>
                  <a:pt x="1312536" y="0"/>
                </a:lnTo>
                <a:lnTo>
                  <a:pt x="131253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690" t="-16687" r="-16691" b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2437805" y="5512083"/>
            <a:ext cx="1339453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29 SEP</a:t>
            </a:r>
          </a:p>
        </p:txBody>
      </p:sp>
      <p:sp>
        <p:nvSpPr>
          <p:cNvPr id="20" name="Freeform 20"/>
          <p:cNvSpPr/>
          <p:nvPr/>
        </p:nvSpPr>
        <p:spPr>
          <a:xfrm>
            <a:off x="2176622" y="6209369"/>
            <a:ext cx="1312536" cy="863627"/>
          </a:xfrm>
          <a:custGeom>
            <a:avLst/>
            <a:gdLst/>
            <a:ahLst/>
            <a:cxnLst/>
            <a:rect l="l" t="t" r="r" b="b"/>
            <a:pathLst>
              <a:path w="1312536" h="863627">
                <a:moveTo>
                  <a:pt x="0" y="0"/>
                </a:moveTo>
                <a:lnTo>
                  <a:pt x="1312536" y="0"/>
                </a:lnTo>
                <a:lnTo>
                  <a:pt x="131253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2481" t="-12462" r="-12482" b="-124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437805" y="6415733"/>
            <a:ext cx="1339453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30 SEP</a:t>
            </a:r>
          </a:p>
        </p:txBody>
      </p:sp>
      <p:sp>
        <p:nvSpPr>
          <p:cNvPr id="22" name="Freeform 22"/>
          <p:cNvSpPr/>
          <p:nvPr/>
        </p:nvSpPr>
        <p:spPr>
          <a:xfrm>
            <a:off x="2176622" y="7062064"/>
            <a:ext cx="6322048" cy="874559"/>
          </a:xfrm>
          <a:custGeom>
            <a:avLst/>
            <a:gdLst/>
            <a:ahLst/>
            <a:cxnLst/>
            <a:rect l="l" t="t" r="r" b="b"/>
            <a:pathLst>
              <a:path w="6322048" h="874559">
                <a:moveTo>
                  <a:pt x="0" y="0"/>
                </a:moveTo>
                <a:lnTo>
                  <a:pt x="6322048" y="0"/>
                </a:lnTo>
                <a:lnTo>
                  <a:pt x="632204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55" t="-55" r="-44" b="-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2437805" y="7304323"/>
            <a:ext cx="6349008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 dirty="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SHARED AUTH / IDENTITY / RBAC ACCEPTED</a:t>
            </a:r>
          </a:p>
        </p:txBody>
      </p:sp>
      <p:sp>
        <p:nvSpPr>
          <p:cNvPr id="24" name="Freeform 24"/>
          <p:cNvSpPr/>
          <p:nvPr/>
        </p:nvSpPr>
        <p:spPr>
          <a:xfrm>
            <a:off x="9144000" y="1705390"/>
            <a:ext cx="218756" cy="6231233"/>
          </a:xfrm>
          <a:custGeom>
            <a:avLst/>
            <a:gdLst/>
            <a:ahLst/>
            <a:cxnLst/>
            <a:rect l="l" t="t" r="r" b="b"/>
            <a:pathLst>
              <a:path w="218756" h="6231233">
                <a:moveTo>
                  <a:pt x="0" y="0"/>
                </a:moveTo>
                <a:lnTo>
                  <a:pt x="218756" y="0"/>
                </a:lnTo>
                <a:lnTo>
                  <a:pt x="218756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874223" y="2559508"/>
            <a:ext cx="1094113" cy="140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8"/>
              </a:lnSpc>
            </a:pPr>
            <a:r>
              <a:rPr lang="en-US" sz="8519" b="1" spc="-34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01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528440" y="2776725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46859" t="-47079" r="-47212" b="-470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1982545" y="2725794"/>
            <a:ext cx="1895492" cy="45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INTEGRATE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01500" y="3233329"/>
            <a:ext cx="4286250" cy="74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b="1" spc="-9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Automatic role-based routing</a:t>
            </a:r>
          </a:p>
          <a:p>
            <a:pPr algn="l">
              <a:lnSpc>
                <a:spcPts val="3043"/>
              </a:lnSpc>
            </a:pPr>
            <a:r>
              <a:rPr lang="en-US" sz="2254" b="1" spc="-9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Applicant / Intern / Mentor</a:t>
            </a:r>
          </a:p>
        </p:txBody>
      </p:sp>
      <p:sp>
        <p:nvSpPr>
          <p:cNvPr id="29" name="Freeform 29"/>
          <p:cNvSpPr/>
          <p:nvPr/>
        </p:nvSpPr>
        <p:spPr>
          <a:xfrm>
            <a:off x="9570574" y="4066699"/>
            <a:ext cx="8072096" cy="437279"/>
          </a:xfrm>
          <a:custGeom>
            <a:avLst/>
            <a:gdLst/>
            <a:ahLst/>
            <a:cxnLst/>
            <a:rect l="l" t="t" r="r" b="b"/>
            <a:pathLst>
              <a:path w="8072096" h="437279">
                <a:moveTo>
                  <a:pt x="0" y="0"/>
                </a:moveTo>
                <a:lnTo>
                  <a:pt x="8072096" y="0"/>
                </a:lnTo>
                <a:lnTo>
                  <a:pt x="807209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9871996" y="4472234"/>
            <a:ext cx="1316830" cy="140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8"/>
              </a:lnSpc>
            </a:pPr>
            <a:r>
              <a:rPr lang="en-US" sz="8519" b="1" spc="-34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02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528440" y="4493047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46859" t="-47100" r="-47212" b="-470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1984656" y="4608399"/>
            <a:ext cx="1684431" cy="45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ENHANCE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01500" y="5115934"/>
            <a:ext cx="4286250" cy="74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b="1" spc="-9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Client requested notifications</a:t>
            </a:r>
          </a:p>
          <a:p>
            <a:pPr algn="l">
              <a:lnSpc>
                <a:spcPts val="3043"/>
              </a:lnSpc>
            </a:pPr>
            <a:r>
              <a:rPr lang="en-US" sz="2254" b="1" spc="-9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If capacity allows</a:t>
            </a:r>
          </a:p>
        </p:txBody>
      </p:sp>
      <p:sp>
        <p:nvSpPr>
          <p:cNvPr id="34" name="Freeform 34"/>
          <p:cNvSpPr/>
          <p:nvPr/>
        </p:nvSpPr>
        <p:spPr>
          <a:xfrm>
            <a:off x="9570574" y="5990729"/>
            <a:ext cx="8072096" cy="229572"/>
          </a:xfrm>
          <a:custGeom>
            <a:avLst/>
            <a:gdLst/>
            <a:ahLst/>
            <a:cxnLst/>
            <a:rect l="l" t="t" r="r" b="b"/>
            <a:pathLst>
              <a:path w="8072096" h="229572">
                <a:moveTo>
                  <a:pt x="0" y="0"/>
                </a:moveTo>
                <a:lnTo>
                  <a:pt x="8072096" y="0"/>
                </a:lnTo>
                <a:lnTo>
                  <a:pt x="8072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9871817" y="6369900"/>
            <a:ext cx="1334669" cy="140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8"/>
              </a:lnSpc>
            </a:pPr>
            <a:r>
              <a:rPr lang="en-US" sz="8519" b="1" spc="-34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03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528440" y="6428009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46859" t="-47035" r="-47212" b="-470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1982168" y="6536187"/>
            <a:ext cx="1933225" cy="45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759" b="1" spc="-11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HANDOVER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001500" y="7028661"/>
            <a:ext cx="4286250" cy="74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b="1" spc="-9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Final hardening + documentation</a:t>
            </a:r>
          </a:p>
          <a:p>
            <a:pPr algn="l">
              <a:lnSpc>
                <a:spcPts val="3043"/>
              </a:lnSpc>
            </a:pPr>
            <a:r>
              <a:rPr lang="en-US" sz="2254" b="1" spc="-90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Client-ready delivery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5795" y="8133397"/>
            <a:ext cx="16997362" cy="1945958"/>
            <a:chOff x="0" y="0"/>
            <a:chExt cx="22663150" cy="259461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663150" cy="2594610"/>
            </a:xfrm>
            <a:custGeom>
              <a:avLst/>
              <a:gdLst/>
              <a:ahLst/>
              <a:cxnLst/>
              <a:rect l="l" t="t" r="r" b="b"/>
              <a:pathLst>
                <a:path w="22663150" h="2594610">
                  <a:moveTo>
                    <a:pt x="0" y="0"/>
                  </a:moveTo>
                  <a:lnTo>
                    <a:pt x="22663150" y="0"/>
                  </a:lnTo>
                  <a:lnTo>
                    <a:pt x="22663150" y="2594610"/>
                  </a:lnTo>
                  <a:lnTo>
                    <a:pt x="0" y="2594610"/>
                  </a:lnTo>
                  <a:close/>
                </a:path>
              </a:pathLst>
            </a:custGeom>
            <a:solidFill>
              <a:srgbClr val="EAF3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22663150" cy="2632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010638" y="8475506"/>
            <a:ext cx="11938110" cy="117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4"/>
              </a:lnSpc>
            </a:pPr>
            <a:r>
              <a:rPr lang="en-US" sz="3537" b="1" spc="-14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Sprint 2 proved the Core MVP works.</a:t>
            </a:r>
          </a:p>
          <a:p>
            <a:pPr algn="ctr">
              <a:lnSpc>
                <a:spcPts val="4774"/>
              </a:lnSpc>
            </a:pPr>
            <a:r>
              <a:rPr lang="en-US" sz="3537" b="1" spc="-141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Sprint 3 makes it integrated, refined and ready to hand over.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70102" y="5512083"/>
            <a:ext cx="4286250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—  Advisor Meeting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70102" y="6430794"/>
            <a:ext cx="4286250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—  Client Review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70102" y="3734903"/>
            <a:ext cx="4286250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—  Client Review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437805" y="3734903"/>
            <a:ext cx="1339453" cy="394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87" b="1" spc="-95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23 SEP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364</Words>
  <Application>Microsoft Macintosh PowerPoint</Application>
  <PresentationFormat>Custom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Public Sans Bold</vt:lpstr>
      <vt:lpstr>Calibri</vt:lpstr>
      <vt:lpstr>Public Sans</vt:lpstr>
      <vt:lpstr>Public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professional business project Presentation</dc:title>
  <cp:lastModifiedBy>Jianqi Lu</cp:lastModifiedBy>
  <cp:revision>4</cp:revision>
  <dcterms:created xsi:type="dcterms:W3CDTF">2006-08-16T00:00:00Z</dcterms:created>
  <dcterms:modified xsi:type="dcterms:W3CDTF">2026-10-04T08:39:07Z</dcterms:modified>
  <dc:identifier>DAHXB0hTsGY</dc:identifier>
</cp:coreProperties>
</file>