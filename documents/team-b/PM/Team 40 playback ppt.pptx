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503030501040103" pitchFamily="34" charset="0"/>
      <p:regular r:id="rId9"/>
    </p:embeddedFont>
    <p:embeddedFont>
      <p:font typeface="Open Sans Bold" pitchFamily="2" charset="0"/>
      <p:regular r:id="rId10"/>
      <p:bold r:id="rId11"/>
    </p:embeddedFont>
    <p:embeddedFont>
      <p:font typeface="Open Sans Italics" pitchFamily="2" charset="0"/>
      <p:regular r:id="rId12"/>
      <p:italic r:id="rId13"/>
    </p:embeddedFont>
    <p:embeddedFont>
      <p:font typeface="Play" pitchFamily="2" charset="0"/>
      <p:regular r:id="rId14"/>
    </p:embeddedFont>
    <p:embeddedFont>
      <p:font typeface="Play Bold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3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make/vKa4knMIYE0oHEqg0tvDim/Revise-prototype?code-node-id=0-6&amp;p=f&amp;t=QH8yIIjitlXFDZIo-0&amp;fullscreen=1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790472"/>
            <a:ext cx="3502132" cy="3496528"/>
            <a:chOff x="0" y="0"/>
            <a:chExt cx="6350000" cy="633984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279D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028700"/>
            <a:ext cx="11275080" cy="448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796"/>
              </a:lnSpc>
            </a:pPr>
            <a:r>
              <a:rPr lang="en-US" sz="983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Intern Management System</a:t>
            </a:r>
          </a:p>
          <a:p>
            <a:pPr marL="0" lvl="0" indent="0" algn="l">
              <a:lnSpc>
                <a:spcPts val="11796"/>
              </a:lnSpc>
            </a:pPr>
            <a:r>
              <a:rPr lang="en-US" sz="983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Team B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840477" y="-895577"/>
            <a:ext cx="8072794" cy="6491502"/>
            <a:chOff x="0" y="0"/>
            <a:chExt cx="10763725" cy="8655336"/>
          </a:xfrm>
        </p:grpSpPr>
        <p:grpSp>
          <p:nvGrpSpPr>
            <p:cNvPr id="6" name="Group 6"/>
            <p:cNvGrpSpPr/>
            <p:nvPr/>
          </p:nvGrpSpPr>
          <p:grpSpPr>
            <a:xfrm rot="2700000">
              <a:off x="5010073" y="5221574"/>
              <a:ext cx="6125442" cy="1485661"/>
              <a:chOff x="0" y="0"/>
              <a:chExt cx="26301750" cy="637921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2700000">
              <a:off x="3946191" y="2040224"/>
              <a:ext cx="6125442" cy="1485661"/>
              <a:chOff x="0" y="0"/>
              <a:chExt cx="26301750" cy="63792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700000">
              <a:off x="-371790" y="1948101"/>
              <a:ext cx="6125442" cy="1485661"/>
              <a:chOff x="0" y="0"/>
              <a:chExt cx="26301750" cy="637921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2084922" y="2350174"/>
            <a:ext cx="3109266" cy="3109266"/>
          </a:xfrm>
          <a:custGeom>
            <a:avLst/>
            <a:gdLst/>
            <a:ahLst/>
            <a:cxnLst/>
            <a:rect l="l" t="t" r="r" b="b"/>
            <a:pathLst>
              <a:path w="3109266" h="3109266">
                <a:moveTo>
                  <a:pt x="0" y="0"/>
                </a:moveTo>
                <a:lnTo>
                  <a:pt x="3109266" y="0"/>
                </a:lnTo>
                <a:lnTo>
                  <a:pt x="3109266" y="3109266"/>
                </a:lnTo>
                <a:lnTo>
                  <a:pt x="0" y="3109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6910543" y="7880910"/>
            <a:ext cx="10348757" cy="1377390"/>
            <a:chOff x="0" y="0"/>
            <a:chExt cx="13798342" cy="183652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76200"/>
              <a:ext cx="13798342" cy="706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401"/>
                </a:lnSpc>
              </a:pPr>
              <a:r>
                <a:rPr lang="en-US" sz="3144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Sprint 1 Playback – Design &amp; Bootstrap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9253" y="718720"/>
              <a:ext cx="12159089" cy="1117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404"/>
                </a:lnSpc>
              </a:pPr>
              <a:r>
                <a:rPr lang="en-US" sz="2431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Client: Food Systems Collective   |   Team B: Post-Recruitment Mentor &amp; Intern Experience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401550" y="0"/>
            <a:ext cx="5886450" cy="4714875"/>
          </a:xfrm>
          <a:custGeom>
            <a:avLst/>
            <a:gdLst/>
            <a:ahLst/>
            <a:cxnLst/>
            <a:rect l="l" t="t" r="r" b="b"/>
            <a:pathLst>
              <a:path w="5886450" h="4714875">
                <a:moveTo>
                  <a:pt x="0" y="0"/>
                </a:moveTo>
                <a:lnTo>
                  <a:pt x="5886450" y="0"/>
                </a:lnTo>
                <a:lnTo>
                  <a:pt x="58864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6429375"/>
            <a:ext cx="3924300" cy="3857625"/>
          </a:xfrm>
          <a:custGeom>
            <a:avLst/>
            <a:gdLst/>
            <a:ahLst/>
            <a:cxnLst/>
            <a:rect l="l" t="t" r="r" b="b"/>
            <a:pathLst>
              <a:path w="3924300" h="3857625">
                <a:moveTo>
                  <a:pt x="0" y="0"/>
                </a:moveTo>
                <a:lnTo>
                  <a:pt x="3924300" y="0"/>
                </a:lnTo>
                <a:lnTo>
                  <a:pt x="39243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13232" y="578864"/>
            <a:ext cx="2340864" cy="47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b="1">
                <a:solidFill>
                  <a:srgbClr val="0054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Original 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1271070"/>
            <a:ext cx="5102352" cy="45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 — Design &amp; Bootstrap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" y="2144612"/>
            <a:ext cx="10113264" cy="8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2"/>
              </a:lnSpc>
            </a:pPr>
            <a:r>
              <a:rPr lang="en-US" sz="615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Sprint 1 Commitment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647700" y="4714875"/>
            <a:ext cx="2838450" cy="1285875"/>
          </a:xfrm>
          <a:custGeom>
            <a:avLst/>
            <a:gdLst/>
            <a:ahLst/>
            <a:cxnLst/>
            <a:rect l="l" t="t" r="r" b="b"/>
            <a:pathLst>
              <a:path w="2838450" h="1285875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07008" y="4978456"/>
            <a:ext cx="1773936" cy="68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19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Validated Requirements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24000" y="3857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975104" y="4110539"/>
            <a:ext cx="182880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12" name="Freeform 12"/>
          <p:cNvSpPr/>
          <p:nvPr/>
        </p:nvSpPr>
        <p:spPr>
          <a:xfrm>
            <a:off x="3476625" y="5143500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133850" y="4714875"/>
            <a:ext cx="3057525" cy="1285875"/>
          </a:xfrm>
          <a:custGeom>
            <a:avLst/>
            <a:gdLst/>
            <a:ahLst/>
            <a:cxnLst/>
            <a:rect l="l" t="t" r="r" b="b"/>
            <a:pathLst>
              <a:path w="3057525" h="128587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553712" y="4969526"/>
            <a:ext cx="2212848" cy="70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200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Flows &amp; Interface Designs</a:t>
            </a:r>
          </a:p>
        </p:txBody>
      </p:sp>
      <p:sp>
        <p:nvSpPr>
          <p:cNvPr id="15" name="Freeform 15"/>
          <p:cNvSpPr/>
          <p:nvPr/>
        </p:nvSpPr>
        <p:spPr>
          <a:xfrm>
            <a:off x="5219700" y="385762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181850" y="5143500"/>
            <a:ext cx="657225" cy="219075"/>
          </a:xfrm>
          <a:custGeom>
            <a:avLst/>
            <a:gdLst/>
            <a:ahLst/>
            <a:cxnLst/>
            <a:rect l="l" t="t" r="r" b="b"/>
            <a:pathLst>
              <a:path w="657225" h="21907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829550" y="4714875"/>
            <a:ext cx="2628900" cy="1285875"/>
          </a:xfrm>
          <a:custGeom>
            <a:avLst/>
            <a:gdLst/>
            <a:ahLst/>
            <a:cxnLst/>
            <a:rect l="l" t="t" r="r" b="b"/>
            <a:pathLst>
              <a:path w="2628900" h="1285875">
                <a:moveTo>
                  <a:pt x="0" y="0"/>
                </a:moveTo>
                <a:lnTo>
                  <a:pt x="2628900" y="0"/>
                </a:lnTo>
                <a:lnTo>
                  <a:pt x="2628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522208" y="4978753"/>
            <a:ext cx="1261872" cy="69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 Prototype</a:t>
            </a:r>
          </a:p>
        </p:txBody>
      </p:sp>
      <p:sp>
        <p:nvSpPr>
          <p:cNvPr id="19" name="Freeform 19"/>
          <p:cNvSpPr/>
          <p:nvPr/>
        </p:nvSpPr>
        <p:spPr>
          <a:xfrm>
            <a:off x="8705850" y="385762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448925" y="5143500"/>
            <a:ext cx="657225" cy="219075"/>
          </a:xfrm>
          <a:custGeom>
            <a:avLst/>
            <a:gdLst/>
            <a:ahLst/>
            <a:cxnLst/>
            <a:rect l="l" t="t" r="r" b="b"/>
            <a:pathLst>
              <a:path w="657225" h="21907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096625" y="4714875"/>
            <a:ext cx="2838450" cy="1285875"/>
          </a:xfrm>
          <a:custGeom>
            <a:avLst/>
            <a:gdLst/>
            <a:ahLst/>
            <a:cxnLst/>
            <a:rect l="l" t="t" r="r" b="b"/>
            <a:pathLst>
              <a:path w="2838450" h="1285875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411712" y="4978753"/>
            <a:ext cx="2395728" cy="69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Shared-Integration Architecture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192000" y="385762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4144625" y="5143500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801850" y="4714875"/>
            <a:ext cx="2619375" cy="1285875"/>
          </a:xfrm>
          <a:custGeom>
            <a:avLst/>
            <a:gdLst/>
            <a:ahLst/>
            <a:cxnLst/>
            <a:rect l="l" t="t" r="r" b="b"/>
            <a:pathLst>
              <a:path w="2619375" h="1285875">
                <a:moveTo>
                  <a:pt x="0" y="0"/>
                </a:moveTo>
                <a:lnTo>
                  <a:pt x="2619375" y="0"/>
                </a:lnTo>
                <a:lnTo>
                  <a:pt x="261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5544800" y="4970419"/>
            <a:ext cx="1133856" cy="70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07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 READY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582775" y="6000750"/>
            <a:ext cx="3057525" cy="1285875"/>
          </a:xfrm>
          <a:custGeom>
            <a:avLst/>
            <a:gdLst/>
            <a:ahLst/>
            <a:cxnLst/>
            <a:rect l="l" t="t" r="r" b="b"/>
            <a:pathLst>
              <a:path w="3057525" h="128587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5014448" y="6379440"/>
            <a:ext cx="2121408" cy="70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MVP Implementation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5887700" y="578167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2390775" y="7496175"/>
            <a:ext cx="13725525" cy="1076325"/>
          </a:xfrm>
          <a:custGeom>
            <a:avLst/>
            <a:gdLst/>
            <a:ahLst/>
            <a:cxnLst/>
            <a:rect l="l" t="t" r="r" b="b"/>
            <a:pathLst>
              <a:path w="13725525" h="1076325">
                <a:moveTo>
                  <a:pt x="0" y="0"/>
                </a:moveTo>
                <a:lnTo>
                  <a:pt x="13725525" y="0"/>
                </a:lnTo>
                <a:lnTo>
                  <a:pt x="13725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5596128" y="7779764"/>
            <a:ext cx="7095744" cy="47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LIVE &amp; ACCESSIBLE INFRASTRUCTURE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31536" y="8892373"/>
            <a:ext cx="7424928" cy="40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No working product features were expected in Sprint 1.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22976" y="4110539"/>
            <a:ext cx="256032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4272" y="4110539"/>
            <a:ext cx="256032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454128" y="4110539"/>
            <a:ext cx="256032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947136" y="4110539"/>
            <a:ext cx="256032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13668" y="1530477"/>
            <a:ext cx="1647847" cy="58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0"/>
              </a:lnSpc>
            </a:pPr>
            <a:r>
              <a:rPr lang="en-US" sz="1600" b="1" spc="16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FOOD SYSTEMS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13120" y="2839759"/>
            <a:ext cx="1395249" cy="45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0"/>
              </a:lnSpc>
            </a:pPr>
            <a:r>
              <a:rPr lang="en-US" sz="1600" b="1" spc="16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COLLECTIVE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776753" y="0"/>
            <a:ext cx="2813682" cy="2809180"/>
            <a:chOff x="0" y="0"/>
            <a:chExt cx="6350000" cy="633984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279D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8700" y="3197225"/>
            <a:ext cx="2935772" cy="2960652"/>
          </a:xfrm>
          <a:custGeom>
            <a:avLst/>
            <a:gdLst/>
            <a:ahLst/>
            <a:cxnLst/>
            <a:rect l="l" t="t" r="r" b="b"/>
            <a:pathLst>
              <a:path w="2935772" h="2960652">
                <a:moveTo>
                  <a:pt x="0" y="0"/>
                </a:moveTo>
                <a:lnTo>
                  <a:pt x="2935772" y="0"/>
                </a:lnTo>
                <a:lnTo>
                  <a:pt x="2935772" y="2960651"/>
                </a:lnTo>
                <a:lnTo>
                  <a:pt x="0" y="2960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764061" y="3197225"/>
            <a:ext cx="3458174" cy="2505596"/>
          </a:xfrm>
          <a:custGeom>
            <a:avLst/>
            <a:gdLst/>
            <a:ahLst/>
            <a:cxnLst/>
            <a:rect l="l" t="t" r="r" b="b"/>
            <a:pathLst>
              <a:path w="3458174" h="2505596">
                <a:moveTo>
                  <a:pt x="0" y="0"/>
                </a:moveTo>
                <a:lnTo>
                  <a:pt x="3458173" y="0"/>
                </a:lnTo>
                <a:lnTo>
                  <a:pt x="3458173" y="2505596"/>
                </a:lnTo>
                <a:lnTo>
                  <a:pt x="0" y="25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58627" y="6040085"/>
            <a:ext cx="2949521" cy="2527335"/>
          </a:xfrm>
          <a:custGeom>
            <a:avLst/>
            <a:gdLst/>
            <a:ahLst/>
            <a:cxnLst/>
            <a:rect l="l" t="t" r="r" b="b"/>
            <a:pathLst>
              <a:path w="2949521" h="2527335">
                <a:moveTo>
                  <a:pt x="0" y="0"/>
                </a:moveTo>
                <a:lnTo>
                  <a:pt x="2949522" y="0"/>
                </a:lnTo>
                <a:lnTo>
                  <a:pt x="2949522" y="2527335"/>
                </a:lnTo>
                <a:lnTo>
                  <a:pt x="0" y="2527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764061" y="5883796"/>
            <a:ext cx="3052561" cy="2747105"/>
          </a:xfrm>
          <a:custGeom>
            <a:avLst/>
            <a:gdLst/>
            <a:ahLst/>
            <a:cxnLst/>
            <a:rect l="l" t="t" r="r" b="b"/>
            <a:pathLst>
              <a:path w="3052561" h="2747105">
                <a:moveTo>
                  <a:pt x="0" y="0"/>
                </a:moveTo>
                <a:lnTo>
                  <a:pt x="3052560" y="0"/>
                </a:lnTo>
                <a:lnTo>
                  <a:pt x="3052560" y="2747105"/>
                </a:lnTo>
                <a:lnTo>
                  <a:pt x="0" y="2747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69122" y="3663950"/>
            <a:ext cx="7095579" cy="2219846"/>
          </a:xfrm>
          <a:custGeom>
            <a:avLst/>
            <a:gdLst/>
            <a:ahLst/>
            <a:cxnLst/>
            <a:rect l="l" t="t" r="r" b="b"/>
            <a:pathLst>
              <a:path w="7095579" h="2219846">
                <a:moveTo>
                  <a:pt x="0" y="0"/>
                </a:moveTo>
                <a:lnTo>
                  <a:pt x="7095578" y="0"/>
                </a:lnTo>
                <a:lnTo>
                  <a:pt x="7095578" y="2219846"/>
                </a:lnTo>
                <a:lnTo>
                  <a:pt x="0" y="22198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088731" y="5883796"/>
            <a:ext cx="5925343" cy="3517055"/>
          </a:xfrm>
          <a:custGeom>
            <a:avLst/>
            <a:gdLst/>
            <a:ahLst/>
            <a:cxnLst/>
            <a:rect l="l" t="t" r="r" b="b"/>
            <a:pathLst>
              <a:path w="5925343" h="3517055">
                <a:moveTo>
                  <a:pt x="0" y="0"/>
                </a:moveTo>
                <a:lnTo>
                  <a:pt x="5925343" y="0"/>
                </a:lnTo>
                <a:lnTo>
                  <a:pt x="5925343" y="3517055"/>
                </a:lnTo>
                <a:lnTo>
                  <a:pt x="0" y="3517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122"/>
              </a:lnSpc>
              <a:spcBef>
                <a:spcPct val="0"/>
              </a:spcBef>
            </a:pPr>
            <a:r>
              <a:rPr lang="en-US" sz="1515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04875"/>
            <a:ext cx="16230600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1E1E1E"/>
                </a:solidFill>
                <a:latin typeface="Play Bold"/>
                <a:ea typeface="Play Bold"/>
                <a:cs typeface="Play Bold"/>
                <a:sym typeface="Play Bold"/>
              </a:rPr>
              <a:t>Actual Achievement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38350"/>
            <a:ext cx="162306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279DF"/>
                </a:solidFill>
                <a:latin typeface="Play"/>
                <a:ea typeface="Play"/>
                <a:cs typeface="Play"/>
                <a:sym typeface="Play"/>
              </a:rPr>
              <a:t>Sprint 1 Outcomes — Evidence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838450"/>
            <a:ext cx="9525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E1E1E"/>
                </a:solidFill>
                <a:latin typeface="Play Bold"/>
                <a:ea typeface="Play Bold"/>
                <a:cs typeface="Play Bold"/>
                <a:sym typeface="Play Bold"/>
              </a:rPr>
              <a:t>01 — DIGITAL DESIGN &amp; PROTOTYPE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63300" y="2847975"/>
            <a:ext cx="6096000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E1E1E"/>
                </a:solidFill>
                <a:latin typeface="Play Bold"/>
                <a:ea typeface="Play Bold"/>
                <a:cs typeface="Play Bold"/>
                <a:sym typeface="Play Bold"/>
              </a:rPr>
              <a:t>02 — LIVE DEVELOPMENT INFRASTRUCTURE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5487" y="8359457"/>
            <a:ext cx="9525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E1E1E"/>
                </a:solidFill>
                <a:latin typeface="Play Bold"/>
                <a:ea typeface="Play Bold"/>
                <a:cs typeface="Play Bold"/>
                <a:sym typeface="Play Bold"/>
              </a:rPr>
              <a:t>Connected Core MVP Prototype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5487" y="8719820"/>
            <a:ext cx="9525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Assign Task → Work on Task → Task Submission → Weekly Progress → Mentor Review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9572625"/>
            <a:ext cx="162306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Sprint 1 Outcome: Design validated + technical foundation established for Sprint 2 implementation.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0856" y="9060815"/>
            <a:ext cx="3425737" cy="34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1935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www.figma.com/make/vKa4knMIYE0oHEqg0tvDim/Revise-prototype?code-node-id=0-6&amp;p=f&amp;t=QH8yIIjitlXFDZIo-0&amp;fullscreen=1"/>
              </a:rPr>
              <a:t>View Core MVP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7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288787" y="4287787"/>
            <a:ext cx="5999213" cy="5999213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009650"/>
            <a:ext cx="1623060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33"/>
              </a:lnSpc>
            </a:pPr>
            <a:r>
              <a:rPr lang="en-US" sz="6361" b="1" spc="-63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Why It Matters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3169398"/>
            <a:ext cx="10871741" cy="5377792"/>
            <a:chOff x="0" y="0"/>
            <a:chExt cx="14495655" cy="717039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25319"/>
              <a:ext cx="14495655" cy="415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80"/>
                </a:lnSpc>
              </a:pPr>
              <a:r>
                <a:rPr lang="en-US" sz="190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Assign tasks, review Intern progress, and distinguish submitted work from completed work.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4495655" cy="9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✓  For Mentors</a:t>
              </a:r>
            </a:p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Better visibility and control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728451"/>
              <a:ext cx="14495655" cy="415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80"/>
                </a:lnSpc>
              </a:pPr>
              <a:r>
                <a:rPr lang="en-US" sz="190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Interns can clearly see assigned work, submit task-specific work, and report overall weekly progress.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584082"/>
              <a:ext cx="14495655" cy="9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⇄  For Interns</a:t>
              </a:r>
            </a:p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Clearer work and progress reporting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191561"/>
              <a:ext cx="14495655" cy="9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◈  For FSC</a:t>
              </a:r>
            </a:p>
            <a:p>
              <a:pPr marL="0" lvl="0" indent="0" algn="l">
                <a:lnSpc>
                  <a:spcPts val="2671"/>
                </a:lnSpc>
              </a:pPr>
              <a:r>
                <a:rPr lang="en-US" sz="2226" b="1" u="none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More structured internship management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335930"/>
              <a:ext cx="14495655" cy="834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80"/>
                </a:lnSpc>
              </a:pPr>
              <a:r>
                <a:rPr lang="en-US" sz="190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Creates a clearer and more consistent way to track assigned work and Intern progress within one shared IMS.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337"/>
              </a:lnSpc>
              <a:spcBef>
                <a:spcPct val="0"/>
              </a:spcBef>
            </a:pPr>
            <a:r>
              <a:rPr lang="en-US" sz="166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78159" y="1019175"/>
            <a:ext cx="10381141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32"/>
              </a:lnSpc>
            </a:pPr>
            <a:r>
              <a:rPr lang="en-US" sz="6193" b="1" spc="-6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Blockers, Learnings &amp; Open Questions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606482" y="4155502"/>
            <a:ext cx="13652818" cy="5102798"/>
            <a:chOff x="0" y="0"/>
            <a:chExt cx="18203758" cy="6803731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820375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694"/>
                </a:lnSpc>
              </a:pPr>
              <a:r>
                <a:rPr lang="en-US" sz="2245" u="none">
                  <a:solidFill>
                    <a:srgbClr val="7FB7FF"/>
                  </a:solidFill>
                  <a:latin typeface="Play"/>
                  <a:ea typeface="Play"/>
                  <a:cs typeface="Play"/>
                  <a:sym typeface="Play"/>
                </a:rPr>
                <a:t>CLIENT FEEDBACK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58542"/>
              <a:ext cx="18203758" cy="80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Feedback was not always received early enough for continuous validation.</a:t>
              </a:r>
            </a:p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→ Weekly client reviews in Sprint 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705127"/>
              <a:ext cx="1820375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694"/>
                </a:lnSpc>
              </a:pPr>
              <a:r>
                <a:rPr lang="en-US" sz="2245" u="none">
                  <a:solidFill>
                    <a:srgbClr val="7FB7FF"/>
                  </a:solidFill>
                  <a:latin typeface="Play"/>
                  <a:ea typeface="Play"/>
                  <a:cs typeface="Play"/>
                  <a:sym typeface="Play"/>
                </a:rPr>
                <a:t>CROSS-TEAM DEPENDENCIES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73194"/>
              <a:ext cx="18203758" cy="80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Two teams are contributing to one shared IMS, creating coordination and integration dependencies.</a:t>
              </a:r>
            </a:p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→ Regular Team A/B alignment and integration checks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425753"/>
              <a:ext cx="1820375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694"/>
                </a:lnSpc>
              </a:pPr>
              <a:r>
                <a:rPr lang="en-US" sz="2245">
                  <a:solidFill>
                    <a:srgbClr val="7FB7FF"/>
                  </a:solidFill>
                  <a:latin typeface="Play"/>
                  <a:ea typeface="Play"/>
                  <a:cs typeface="Play"/>
                  <a:sym typeface="Play"/>
                </a:rPr>
                <a:t>SCO</a:t>
              </a:r>
              <a:r>
                <a:rPr lang="en-US" sz="2245" u="none">
                  <a:solidFill>
                    <a:srgbClr val="7FB7FF"/>
                  </a:solidFill>
                  <a:latin typeface="Play"/>
                  <a:ea typeface="Play"/>
                  <a:cs typeface="Play"/>
                  <a:sym typeface="Play"/>
                </a:rPr>
                <a:t>PE &amp; IMPLEMENTATION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993820"/>
              <a:ext cx="18203758" cy="80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Some design decisions may require refinement once implementation begins.</a:t>
              </a:r>
            </a:p>
            <a:p>
              <a:pPr marL="0" lvl="0" indent="0" algn="r">
                <a:lnSpc>
                  <a:spcPts val="2415"/>
                </a:lnSpc>
              </a:pPr>
              <a:r>
                <a:rPr lang="en-US" sz="1858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→ Protect the Core MVP and validate incrementally in Sprint 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0" y="0"/>
            <a:ext cx="5711438" cy="5702300"/>
            <a:chOff x="0" y="0"/>
            <a:chExt cx="6350000" cy="6339840"/>
          </a:xfrm>
        </p:grpSpPr>
        <p:sp>
          <p:nvSpPr>
            <p:cNvPr id="1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279D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276"/>
              </a:lnSpc>
              <a:spcBef>
                <a:spcPct val="0"/>
              </a:spcBef>
            </a:pPr>
            <a:r>
              <a:rPr lang="en-US" sz="1625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0281" y="147693"/>
            <a:ext cx="4553757" cy="2517734"/>
            <a:chOff x="0" y="0"/>
            <a:chExt cx="6071677" cy="3356979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6071677" cy="196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24"/>
                </a:lnSpc>
              </a:pPr>
              <a:r>
                <a:rPr lang="en-US" sz="4853" b="1" spc="-48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Sprint 1</a:t>
              </a:r>
            </a:p>
            <a:p>
              <a:pPr marL="0" lvl="0" indent="0" algn="l">
                <a:lnSpc>
                  <a:spcPts val="5824"/>
                </a:lnSpc>
              </a:pPr>
              <a:r>
                <a:rPr lang="en-US" sz="4853" b="1" spc="-48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Task Allocation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669316"/>
              <a:ext cx="6071677" cy="687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0"/>
                </a:lnSpc>
              </a:pPr>
              <a:r>
                <a:rPr lang="en-US" sz="1577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Team B contributions across PM, BA, UX, and DEV roles during the Design &amp; Bootstrap sprint.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0769" y="3352800"/>
            <a:ext cx="5945684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Jianqi Lu — Project Manager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MANAGEMENT] - Sprint 1 Scope and Planner Setup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[PROJECT MANAGEMENT] - Sprint 1 Dependency, Risk and Coordination Setup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MANAGEMENT] - Week 2 Scope, Progress and Dependency Review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[STAKEHOLDER MANAGEMENT] - Client and Supervisor Feedback Coordination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MANAGEMENT] - Week 3 Validation and Sprint 2 Readiness Coordination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PLAYBACK] - Sprint 1 Playback Preparation and Readiness Review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[TECHNOLOGY MEETING] - Team B Technology Meeting : 30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Integration and Alignment Meeting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Sprint 1 Playback Rehearsal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PLAYBACK] - Sprint 1 Playback Meeting with Supervisors :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29983" y="3352800"/>
            <a:ext cx="5773638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Shakthijhaa Sivagnanam — Business Analyst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[REQUIREMENTS] - Team B Core MVP Scope and Workflow Definition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[REQUIREMENTS] - Client Requirements and Process Review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[REQUIREMENTS] - Core MVP User Stories and Acceptance Criteria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[REQUIREMENTS] - Scope Change and Cross-Team Requirements Review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[BA REVIEW] - Core MVP Wireframe Requirements Review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[REQUIREMENTS] - Final Core MVP Requirements Consolidation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Integration and Alignment Meeting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Sprint 1 Playback Rehearsal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HANDOFF] - Requirements Refinement and Sprint 2 Handoff : 120 (Backlog)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PLAYBACK] - Sprint 1 Playback Meeting with Supervisors : 30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0769" y="6339454"/>
            <a:ext cx="6542782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Faridullah Jabbar Khil — UX Designer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[UX DESIGN] - Core MVP User Flow Definition : 120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[UX DESIGN] - Core MVP Early Wireframes : 120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[UX DESIGN] - Core MVP Detailed Wireframes : 120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[UX] - Core MVP Wireframe Review, Revision and Prototype : 120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[UX DESIGN] - Shared IMS Design Alignment and Detailed Core MVP Prototype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Integration and Alignment Meeting : 60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Sprint 1 Playback Rehearsal : 60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HANDOFF] - Prototype Refinement and Sprint 2 Design Handoff : 120 (Backlog)</a:t>
            </a:r>
          </a:p>
          <a:p>
            <a:pPr marL="259080" lvl="1" indent="-129540" algn="l">
              <a:lnSpc>
                <a:spcPts val="1439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PLAYBACK] - Sprint 1 Playback Meeting with Supervisors : 30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29983" y="6348979"/>
            <a:ext cx="6544419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Chan Hoang Truong — Developer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[INFRASTRUCTURE] - Development Environment and Project Bootstrap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[INFRASTRUCTURE] - Database and Technical Infrastructure Bootstrap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[TECHNICAL ARCHITECTURE] - Core Data and API Architecture Bootstrap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[TECHNICAL ARCHITECTURE] - Authentication, RBAC and Shared IMS Integration Definition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[INFRASTRUCTURE] - Team 40 Database and Development Readiness Setup : 120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[TECHNOLOGY MEETING] - Team B Technology Meeting : 30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Integration and Alignment Meeting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[CROSS-TEAM MEETING] - Team A/B Sprint 1 Playback Rehearsal : 60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HANDOFF] - Technical Refinement and Sprint 2 Development Handoff : 120 (Backlog)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[SPRINT PLAYBACK] - Sprint 1 Playback Meeting with Supervisors 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9419" y="285750"/>
            <a:ext cx="7433284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0"/>
              </a:lnSpc>
              <a:spcBef>
                <a:spcPct val="0"/>
              </a:spcBef>
            </a:pPr>
            <a:r>
              <a:rPr lang="en-US" sz="485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SPRINT 1 — KEY TIMELINE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85857" y="285750"/>
            <a:ext cx="710684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0"/>
              </a:lnSpc>
              <a:spcBef>
                <a:spcPct val="0"/>
              </a:spcBef>
            </a:pPr>
            <a:r>
              <a:rPr lang="en-US" sz="485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SPRINT 2 —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8839" y="1911074"/>
            <a:ext cx="5241429" cy="615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03 AUG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Project Kick-off Meeting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Team B project initiation &amp; client introduction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12 AUG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Joint Meeting with Team A &amp; Client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Initial cross-team and client alignment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18 AUG 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— Client Requirements Review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First Core MVP scope reduction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21 AUG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Core MVP Refinement &amp; Client Sign-off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Second scope reduction → Final proposal signed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07 SEP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Technology Meeting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Technical direction &amp; Sprint 2 readiness review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09 SEP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Team A/B Integration Meeting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Shared IMS integration &amp; cross-team alignment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10 SEP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Playback Preparation &amp; Rehearsal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Final Sprint 1 readiness review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C1FF72"/>
                </a:solidFill>
                <a:latin typeface="Play Bold"/>
                <a:ea typeface="Play Bold"/>
                <a:cs typeface="Play Bold"/>
                <a:sym typeface="Play Bold"/>
              </a:rPr>
              <a:t>11 SEP</a:t>
            </a: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— SPRINT 1 PLAYBACK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TODAY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3701" y="1911074"/>
            <a:ext cx="744899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Sprint 2 Goal: Turn the validated Sprint 1 design into a working Core MVP.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88834" y="3073124"/>
            <a:ext cx="8658523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7FB7FF"/>
                </a:solidFill>
                <a:latin typeface="Play Bold"/>
                <a:ea typeface="Play Bold"/>
                <a:cs typeface="Play Bold"/>
                <a:sym typeface="Play Bold"/>
              </a:rPr>
              <a:t>Implement Core MVP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Build the confirmed Mentor and Intern workflows.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7FB7FF"/>
                </a:solidFill>
                <a:latin typeface="Play Bold"/>
                <a:ea typeface="Play Bold"/>
                <a:cs typeface="Play Bold"/>
                <a:sym typeface="Play Bold"/>
              </a:rPr>
              <a:t>Shared IMS Integration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Integrate Team B functionality with Team A and the shared system foundation.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7FB7FF"/>
                </a:solidFill>
                <a:latin typeface="Play Bold"/>
                <a:ea typeface="Play Bold"/>
                <a:cs typeface="Play Bold"/>
                <a:sym typeface="Play Bold"/>
              </a:rPr>
              <a:t>Weekly Client Validation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Review working progress with FSC every week.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endParaRPr lang="en-US" sz="17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7FB7FF"/>
                </a:solidFill>
                <a:latin typeface="Play Bold"/>
                <a:ea typeface="Play Bold"/>
                <a:cs typeface="Play Bold"/>
                <a:sym typeface="Play Bold"/>
              </a:rPr>
              <a:t>Test &amp; Refine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Validate functionality and resolve remaining workflow, access and integration issues.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1050</Words>
  <Application>Microsoft Macintosh PowerPoint</Application>
  <PresentationFormat>Custom</PresentationFormat>
  <Paragraphs>140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Open Sans Bold</vt:lpstr>
      <vt:lpstr>Canva Sans</vt:lpstr>
      <vt:lpstr>Play</vt:lpstr>
      <vt:lpstr>Open Sans Italics</vt:lpstr>
      <vt:lpstr>Arial</vt:lpstr>
      <vt:lpstr>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Using Template</dc:title>
  <cp:lastModifiedBy>Jianqi Lu</cp:lastModifiedBy>
  <cp:revision>1</cp:revision>
  <dcterms:created xsi:type="dcterms:W3CDTF">2006-08-16T00:00:00Z</dcterms:created>
  <dcterms:modified xsi:type="dcterms:W3CDTF">2026-09-12T10:59:41Z</dcterms:modified>
  <dc:identifier>DAHUsroi8cg</dc:identifier>
</cp:coreProperties>
</file>